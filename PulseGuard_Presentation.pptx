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97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PULSEGUARD-AI</a:t>
            </a:r>
          </a:p>
          <a:p>
            <a:pPr>
              <a:spcBef>
                <a:spcPts val="800"/>
              </a:spcBef>
              <a:defRPr sz="1800">
                <a:solidFill>
                  <a:srgbClr val="38BDF8"/>
                </a:solidFill>
              </a:defRPr>
            </a:pPr>
            <a:r>
              <a:t>Edge-Resilient Clinical Alarm Management &amp; Spatial 3D ICU Digital Twin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Combines Unsupervised ML Covariance Scoring with a Zero-Failure Deterministic Safety 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5204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82.5% NOISE REDUCTION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Suppresses false &amp; non-actionable alarms using sliding-window Isolation Forest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9184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35204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0.0% MISSED EMERGENCIES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Deterministic rule safety net forces Tier 1 alert on SpO2 &lt; 85% or HR &lt; 20 / &gt; 220.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291840"/>
            <a:ext cx="33832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35204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ZERO-DOWNTIME RESILIENCE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Sub-50ms edge processing with instant in-memory deque and local SQLite fallback.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Edge Medical AI Specification  |  FastAPI + React 18 + Three.js +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CLINICAL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Alarm Fatigue Crisis in Intensive Care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F4444"/>
                </a:solidFill>
              </a:defRPr>
            </a:pPr>
            <a:r>
              <a:t>150 - 350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ALARMS / BED / DAY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Continuous noise exposure for ICU nursing staff across typical 12-hour shifts.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02920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84048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</a:defRPr>
            </a:pPr>
            <a:r>
              <a:t>72% - 99%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FALSE POSITIVE RATE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Triggered by sensor motion artifacts, lead disconnects, and rigid single-vital limits.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53949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THE CLINICAL HAZARD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Clinician Desensitization: Constant cacophony of alarms causes delayed reaction to true life-threatening emergencies.</a:t>
            </a:r>
            <a:br/>
            <a:r>
              <a:t>• Unsafe Workarounds: Monitor volume turned down or alarms globally silenced, leading to preventable patient deaths.</a:t>
            </a:r>
            <a:br/>
            <a:r>
              <a:t>• Extreme Staff Burnout: Highest contributor to ICU nursing attrition and cognitive exhaustion.</a:t>
            </a:r>
          </a:p>
          <a:p>
            <a:pPr>
              <a:spcBef>
                <a:spcPts val="1600"/>
              </a:spcBef>
              <a:defRPr sz="1300" b="1">
                <a:solidFill>
                  <a:srgbClr val="2DD4BF"/>
                </a:solidFill>
              </a:defRPr>
            </a:pPr>
            <a:r>
              <a:t>HOW PULSEGUARD-AI SOLVES THIS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Multivariate Context: Evaluates HR, SpO2, and BP covariance together rather than single isolated threshold tripwires.</a:t>
            </a:r>
            <a:br/>
            <a:r>
              <a:t>• Smart Alarm Suppression: Suppresses transient non-actionable spikes from the screen while logging them to audit trail.</a:t>
            </a:r>
            <a:br/>
            <a:r>
              <a:t>• Non-Negotiable Safety Net: Hard physiological tripwires can never be suppressed, bypassed, or silenced.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CORE ENGINE &amp; CASCADE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Parallel Dual-Path Engine &amp; 3-Tier Alarm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TIER 1 : RED ALERT</a:t>
            </a:r>
          </a:p>
          <a:p>
            <a:pPr>
              <a:spcBef>
                <a:spcPts val="200"/>
              </a:spcBef>
              <a:defRPr sz="950" b="1">
                <a:solidFill>
                  <a:srgbClr val="94A3B8"/>
                </a:solidFill>
              </a:defRPr>
            </a:pPr>
            <a:r>
              <a:t>CRITICAL CRISIS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Trigger: SpO2 &lt; 85%, HR &lt; 20 or &gt; 220, or ML Confidence &gt;= 0.90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Action: Pulsating visual flash + IEC 60601-1-8 high-urgency 5-pulse tone.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Safety: CANNOT be muted, silenced, or suppressed under any circumstance.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TIER 2 : AMBER WARNING</a:t>
            </a:r>
          </a:p>
          <a:p>
            <a:pPr>
              <a:spcBef>
                <a:spcPts val="200"/>
              </a:spcBef>
              <a:defRPr sz="950" b="1">
                <a:solidFill>
                  <a:srgbClr val="94A3B8"/>
                </a:solidFill>
              </a:defRPr>
            </a:pPr>
            <a:r>
              <a:t>HEMODYNAMIC DRIFT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Trigger: ML Anomaly Confidence 0.50 - 0.89 (Divergence &amp; trend shift).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Action: Visual amber status badge + moderate 3-pulse chime.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Safety: Clinician can mute for &lt;= 300s (server-clamped maximum).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TIER 3 : SUPPRESSED</a:t>
            </a:r>
          </a:p>
          <a:p>
            <a:pPr>
              <a:spcBef>
                <a:spcPts val="200"/>
              </a:spcBef>
              <a:defRPr sz="950" b="1">
                <a:solidFill>
                  <a:srgbClr val="94A3B8"/>
                </a:solidFill>
              </a:defRPr>
            </a:pPr>
            <a:r>
              <a:t>TRANSIENT NOISE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Trigger: Transient artifact, single-vital bounce, or ML Confidence &lt; 0.50.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Action: Filtered from screen (Zero visual alarm fatigue).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Safety: Fully recorded in background audit log with explainability trail.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EDGE RESILIENCE &amp; ZERO-DATA-LOSS ARCHITECTURE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0ms Queue Fallback: Instant transition from Redis to in-process collections.deque ring buffers if network drops.</a:t>
            </a:r>
            <a:br/>
            <a:r>
              <a:t>• Dual Persistence &amp; GAP-MARKERs: Standalone SQLite local engine + PostgreSQL sync; 5-min outage GAP-MARKER tracking preserves regulatory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SPATIAL VISUALIZER &amp; CLINICIAN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3D ICU Ward &amp; Regulatory Audio Synthesis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3D ICU Spatial Digital Twin</a:t>
            </a:r>
          </a:p>
          <a:p>
            <a:pPr>
              <a:spcBef>
                <a:spcPts val="200"/>
              </a:spcBef>
              <a:defRPr sz="950" b="1">
                <a:solidFill>
                  <a:srgbClr val="94A3B8"/>
                </a:solidFill>
              </a:defRPr>
            </a:pPr>
            <a:r>
              <a:t>Three.js 60 FPS Ward Visualizer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Full 10-bed ward rendering with orbit camera controls, animated alert beacons, bedside monitor displays, and instant bed selection raycasting.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Biometric 3D Heart Twin</a:t>
            </a:r>
          </a:p>
          <a:p>
            <a:pPr>
              <a:spcBef>
                <a:spcPts val="200"/>
              </a:spcBef>
              <a:defRPr sz="950" b="1">
                <a:solidFill>
                  <a:srgbClr val="94A3B8"/>
                </a:solidFill>
              </a:defRPr>
            </a:pPr>
            <a:r>
              <a:t>Real-Time BPM Pulsation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Procedural anatomical heart mesh pulsating in exact mathematical synchronization with the selected patient's instantaneous heart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578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97764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IEC 60601-1-8 Audio Synthesizer</a:t>
            </a:r>
          </a:p>
          <a:p>
            <a:pPr>
              <a:spcBef>
                <a:spcPts val="200"/>
              </a:spcBef>
              <a:defRPr sz="950" b="1">
                <a:solidFill>
                  <a:srgbClr val="94A3B8"/>
                </a:solidFill>
              </a:defRPr>
            </a:pPr>
            <a:r>
              <a:t>Zero-Lag Web Audio API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Procedural harmonic sound engine producing standard C5-E5-G5 melodic alarm bursts without external audio file loading delays.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794760"/>
            <a:ext cx="5257800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977640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Clinician Governance &amp; Audit</a:t>
            </a:r>
          </a:p>
          <a:p>
            <a:pPr>
              <a:spcBef>
                <a:spcPts val="200"/>
              </a:spcBef>
              <a:defRPr sz="950" b="1">
                <a:solidFill>
                  <a:srgbClr val="94A3B8"/>
                </a:solidFill>
              </a:defRPr>
            </a:pPr>
            <a:r>
              <a:t>Mute Clamping &amp; Justified Override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Server-enforced 300s max mute clamp, tamper artifact detection, and mandatory clinician override rationale logging for full accountability.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TECHNICAL STACK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Full-Stack Architecture &amp; Verified System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PRODUCTION-READY TECH STACK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Frontend Client: React 18 + Vite (SPA) + Tailwind CSS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3D Graphics Engine: Three.js (Raw Canvas Render Loop)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Backend Gateway: FastAPI (Python 3.13) + Uvicorn Async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ML Anomaly Engine: Scikit-Learn Isolation Forest (1.3MB pkl)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Data Persistence: Dual SQLite (Local) + PostgreSQL (AsyncPG)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Buffering &amp; Cache: Redis 7.0 + In-Process Deque Ring Buffer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Real-Time Transport: Native WebSockets (ws://localhost:8000/ws/alerts)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Orchestration: 1-Click Native Suite (run.py, start.bat, start.sh)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55448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VERIFIED PERFORMANCE METRICS</a:t>
            </a:r>
          </a:p>
          <a:p>
            <a:pPr>
              <a:spcBef>
                <a:spcPts val="800"/>
              </a:spcBef>
              <a:defRPr sz="1600" b="1">
                <a:solidFill>
                  <a:srgbClr val="38BDF8"/>
                </a:solidFill>
              </a:defRPr>
            </a:pPr>
            <a:r>
              <a:t>82.5%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</a:defRPr>
            </a:pPr>
            <a:r>
              <a:t>Alarm Noise Reduction — Filtered false alarms without masking true clinical deterioration.</a:t>
            </a:r>
          </a:p>
          <a:p>
            <a:pPr>
              <a:spcBef>
                <a:spcPts val="800"/>
              </a:spcBef>
              <a:defRPr sz="1600" b="1">
                <a:solidFill>
                  <a:srgbClr val="38BDF8"/>
                </a:solidFill>
              </a:defRPr>
            </a:pPr>
            <a:r>
              <a:t>&lt;= 1.2 ms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</a:defRPr>
            </a:pPr>
            <a:r>
              <a:t>ML Inference Latency — Executed on lightweight edge CPUs without dedicated GPUs.</a:t>
            </a:r>
          </a:p>
          <a:p>
            <a:pPr>
              <a:spcBef>
                <a:spcPts val="800"/>
              </a:spcBef>
              <a:defRPr sz="1600" b="1">
                <a:solidFill>
                  <a:srgbClr val="38BDF8"/>
                </a:solidFill>
              </a:defRPr>
            </a:pPr>
            <a:r>
              <a:t>0 ms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</a:defRPr>
            </a:pPr>
            <a:r>
              <a:t>Outage Buffer Switch — Zero telemetry packets lost during simulated Redis/Postgres drops.</a:t>
            </a:r>
          </a:p>
          <a:p>
            <a:pPr>
              <a:spcBef>
                <a:spcPts val="800"/>
              </a:spcBef>
              <a:defRPr sz="1600" b="1">
                <a:solidFill>
                  <a:srgbClr val="38BDF8"/>
                </a:solidFill>
              </a:defRPr>
            </a:pPr>
            <a:r>
              <a:t>38,000 req/s</a:t>
            </a:r>
          </a:p>
          <a:p>
            <a:pPr>
              <a:spcBef>
                <a:spcPts val="100"/>
              </a:spcBef>
              <a:defRPr sz="950">
                <a:solidFill>
                  <a:srgbClr val="F8FAFC"/>
                </a:solidFill>
              </a:defRPr>
            </a:pPr>
            <a:r>
              <a:t>Gateway Throughput — High-frequency ingestion and multi-client broadcast capacity.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