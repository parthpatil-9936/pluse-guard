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3716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PulseGuard-AI</a:t>
            </a:r>
          </a:p>
          <a:p>
            <a:pPr>
              <a:spcBef>
                <a:spcPts val="600"/>
              </a:spcBef>
              <a:defRPr sz="1500" b="1">
                <a:solidFill>
                  <a:srgbClr val="0284C7"/>
                </a:solidFill>
              </a:defRPr>
            </a:pPr>
            <a:r>
              <a:t>Edge-Resilient Clinical Alarm Management &amp; Spatial 3D ICU Platform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Dual-path architecture combining unsupervised ML covariance anomaly scoring with a zero-failure deterministic safety 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303520" cy="9144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82.5% Noise Suppression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Filters non-actionable alarms using Isolation Forest multi-vital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79"/>
            <a:ext cx="5303520" cy="91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1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C2626"/>
                </a:solidFill>
              </a:defRPr>
            </a:pPr>
            <a:r>
              <a:t>0.0% Missed Emergencies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Rule safety net forces Tier 1 alarm on SpO2 &lt; 85% or HR &lt; 20 / &gt; 220.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3035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Sub-50ms Edge Resilience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Zero downtime with in-process deque ring buffers &amp; SQLite local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u_ward_3d_view_1788164911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896112"/>
            <a:ext cx="5065776" cy="4800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65099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FIGURE 1: Live Interactive 3D ICU Ward Prototype with Real-Time Telemetry &amp; Alert Beacons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PulseGuard-AI Platform Specification  |  FastAPI + React 18 + Three.js 3D +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Alarm Fatigue Crisis &amp; The PulseGuard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150 - 350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Alarms / Bed / Day in ICU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606040" cy="118872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53312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72% - 99%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False / Clinically Insignificant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THE CLINICAL HAZARD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Clinician Desensitization: Continuous auditory alarm storms cause delayed reaction to true emergencies (hypoxia, cardiac arrest).</a:t>
            </a:r>
            <a:br/>
            <a:r>
              <a:t>• Unsafe Workarounds: Silencing monitors or lowering alarm volumes, leading to preventable sentinel events.</a:t>
            </a:r>
            <a:br/>
            <a:r>
              <a:t>• Severe Staff Attrition: Critical driver of nursing cognitive overload.</a:t>
            </a:r>
          </a:p>
          <a:p>
            <a:pPr>
              <a:spcBef>
                <a:spcPts val="1000"/>
              </a:spcBef>
              <a:defRPr sz="1100" b="1">
                <a:solidFill>
                  <a:srgbClr val="0D9488"/>
                </a:solidFill>
              </a:defRPr>
            </a:pPr>
            <a:r>
              <a:t>HOW PULSEGUARD-AI SOLVES THIS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Multivariate Context: Evaluates HR, SpO2, and BP covariance across a 10s sliding window instead of single-vital tripwires.</a:t>
            </a:r>
            <a:br/>
            <a:r>
              <a:t>• Smart Suppression: Suppresses transient spikes from screen while logging full audit trail.</a:t>
            </a:r>
            <a:br/>
            <a:r>
              <a:t>• Non-Negotiable Safety Net: Hard physiological tripwires can never be silenced.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u_card_matrix_view_actual_1788165484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53312"/>
            <a:ext cx="5065776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69671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FIGURE 2: 10-Bed Clinical Grid View with Real-Time Vitals, Urgency Tiers &amp; Sparklines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CORE ENGINE &amp; CASCADE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Parallel Dual-Path Engine &amp; Edge Resilience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417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TIER 1 : RED ALERT (Critical Crisis)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Trigger: SpO2 &lt; 85%, HR &lt; 20 or &gt; 220, or ML Conf &gt;= 0.90</a:t>
            </a:r>
            <a:br/>
            <a:r>
              <a:t>Action: Visual pulsating flash + IEC 60601-1-8 5-pulse tone.</a:t>
            </a:r>
            <a:br/>
            <a:r>
              <a:t>Safety: CANNOT be muted, silenced, or bypassed.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39"/>
            <a:ext cx="5303520" cy="141732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7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TIER 2 : AMBER WARNING (Hemodynamic Drift)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Trigger: ML Anomaly Confidence 0.50 - 0.89 (Divergence &amp; trend shift)</a:t>
            </a:r>
            <a:br/>
            <a:r>
              <a:t>Action: Visual amber badge + 3-pulse chime tone.</a:t>
            </a:r>
            <a:br/>
            <a:r>
              <a:t>Safety: Clinician can mute for &lt;= 300s (server-clamped limit).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303520" cy="14173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TIER 3 : SUPPRESSED (Transient Noise)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Trigger: Single-vital bounce, motion artifact, or ML Conf &lt; 0.50</a:t>
            </a:r>
            <a:br/>
            <a:r>
              <a:t>Action: Filtered from screen (Zero visual alarm fatigue).</a:t>
            </a:r>
            <a:br/>
            <a:r>
              <a:t>Safety: Fully recorded in background audit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u_outage_active_1788165592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53312"/>
            <a:ext cx="5065776" cy="2971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427939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FIGURE 3: Edge Resilience Mode during Cloud Outage with In-Process Ring Buffering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0916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800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ZERO-DOWNTIME RESILIENCE SPECIFICATION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</a:defRPr>
            </a:pPr>
            <a:r>
              <a:t>• 0ms Queue Fallback: Instant switch to in-process collections.deque if Redis drops.</a:t>
            </a:r>
            <a:br/>
            <a:r>
              <a:t>• Dual Persistence: Local SQLite + PostgreSQL with 5-min GAP-MARKER audit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SPATIAL VISUALIZER &amp; CLINICIAN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3D ICU Ward &amp; Biometric Real-Time Digital Twin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Three.js 3D ICU Ward (60 FPS)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Complete 10-bed ward rendering with orbit camera controls, animated alert beacons, bedside monitor displays, and instant bed selection raycasting.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50591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1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Biometric 3D Heart Digital Twin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Procedural anatomical 3D heart mesh pulsating in exact real-time mathematical synchrony with patient's instantaneous BPM.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21024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IEC 60601-1-8 Audio Synthesis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Web Audio API procedural sound engine generating harmonic C5-E5-G5 chime tones without external audio file loading 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91456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828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Clinician Governance &amp; Audit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Server-enforced 300s max mute clamp, sensor tamper artifact detection, and mandatory clinician override rationale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u_hybrid_view_fresh_1788165364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353312"/>
            <a:ext cx="5065776" cy="4389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696712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FIGURE 4: Hybrid View with Pulsating 3D Heart, Live Waveforms &amp; ML Clinical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TECHNICAL STACK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Full-Stack Production Matrix &amp; Verified System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6692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PRODUCTION-READY FULL-STACK MATRIX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Frontend Client: React 18 + Vite (SPA) + Tailwind CSS (Sub-50ms Reactivity)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3D Engine: Three.js (Raw Canvas Loop, zero React reconciler overhead)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Backend Gateway: FastAPI (Python 3.13) + Uvicorn Async (~38,000 req/s)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ML Anomaly Engine: Scikit-Learn Isolation Forest (1.3MB model footprint)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Persistence Layer: Dual SQLite (Local Zero-Config) + PostgreSQL (AsyncPG)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Buffering &amp; Cache: Redis 7.0 + In-Process Deque Ring Buffer (0ms Fallback)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Real-Time Protocol: Native WebSockets (ws://localhost:8000/ws/alerts)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Audio Synthesizer: Web Audio API (IEC 60601-1-8 Harmonic Frequencies)</a:t>
            </a:r>
          </a:p>
          <a:p>
            <a:pPr>
              <a:spcBef>
                <a:spcPts val="350"/>
              </a:spcBef>
              <a:defRPr sz="919">
                <a:solidFill>
                  <a:srgbClr val="334155"/>
                </a:solidFill>
              </a:defRPr>
            </a:pPr>
            <a:r>
              <a:t>• Orchestration: 1-Click Native Suite (run.py, start.bat, stop.bat, start.sh)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80160"/>
            <a:ext cx="4846320" cy="10515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37160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82.5%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Alarm Noise Reduction — Filtered false alarms without suppressing true clinical emergencies.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450591"/>
            <a:ext cx="484632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542031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&lt;= 1.2 ms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ML Inference Latency — Executed on lightweight edge CPUs without requiring GPU accelerators.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21024"/>
            <a:ext cx="48463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712464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0 ms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Outage Buffer Switch — Zero telemetry packets lost during simulated Redis/Postgres network 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791456"/>
            <a:ext cx="4846320" cy="105156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882896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38,000 req/s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Gateway Throughput — Asynchronous ingestion &amp; live WebSocket multi-client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